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Fidèles (73,5%)</c:v>
                </c:pt>
                <c:pt idx="1">
                  <c:v>Résiliés (26,5%)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73.5</c:v>
                </c:pt>
                <c:pt idx="1">
                  <c:v>26.5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7B8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A8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Contrat 2 ans</c:v>
                  </c:pt>
                  <c:pt idx="1">
                    <c:v>Contrat 1 an</c:v>
                  </c:pt>
                  <c:pt idx="2">
                    <c:v>Tenure</c:v>
                  </c:pt>
                  <c:pt idx="3">
                    <c:v>Fiber Optic</c:v>
                  </c:pt>
                  <c:pt idx="4">
                    <c:v>Streaming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37.8</c:v>
                </c:pt>
                <c:pt idx="1">
                  <c:v>23.4</c:v>
                </c:pt>
                <c:pt idx="2">
                  <c:v>15.8</c:v>
                </c:pt>
                <c:pt idx="3">
                  <c:v>11.3</c:v>
                </c:pt>
                <c:pt idx="4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7B8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Rég. Logistique</c:v>
                  </c:pt>
                  <c:pt idx="1">
                    <c:v>Arbre Décision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79</c:v>
                </c:pt>
                <c:pt idx="2">
                  <c:v>80</c:v>
                </c:pt>
                <c:pt idx="3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Total Erreurs (↓ = meilleur)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Erreurs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7B8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Rég. Logistique</c:v>
                  </c:pt>
                  <c:pt idx="1">
                    <c:v>Arbre Décision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373</c:v>
                </c:pt>
                <c:pt idx="1">
                  <c:v>294</c:v>
                </c:pt>
                <c:pt idx="2">
                  <c:v>288</c:v>
                </c:pt>
                <c:pt idx="3">
                  <c:v>254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548640"/>
            <a:ext cx="2194560" cy="2194560"/>
          </a:xfrm>
          <a:prstGeom prst="ellipse">
            <a:avLst/>
          </a:prstGeom>
          <a:solidFill>
            <a:srgbClr val="0A7B83">
              <a:alpha val="18000"/>
            </a:srgbClr>
          </a:solidFill>
          <a:ln w="12700">
            <a:solidFill>
              <a:srgbClr val="12A89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365760"/>
            <a:ext cx="1371600" cy="1371600"/>
          </a:xfrm>
          <a:prstGeom prst="ellipse">
            <a:avLst/>
          </a:prstGeom>
          <a:solidFill>
            <a:srgbClr val="12A89D">
              <a:alpha val="25000"/>
            </a:srgbClr>
          </a:solidFill>
          <a:ln w="12700">
            <a:solidFill>
              <a:srgbClr val="12A89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du Churn Télécom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analytique complète : comprendre, anticiper et fidéliser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8138160" cy="0"/>
          </a:xfrm>
          <a:prstGeom prst="line">
            <a:avLst/>
          </a:prstGeom>
          <a:noFill/>
          <a:ln w="12700">
            <a:solidFill>
              <a:srgbClr val="0A7B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— Kaggle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Log. · Arbre · Random Forest · XGBoost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CONTEXTE BUSINESS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entreprise télécom observe une hausse significative des résiliations d'abonnements.
</a:t>
            </a:r>
            <a:pPr indent="0" marL="0">
              <a:buNone/>
            </a:pPr>
            <a:r>
              <a:rPr lang="en-US" sz="1200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d'acquisition d'un nouveau client est 5× supérieur au coût de fidélisation.
</a:t>
            </a:r>
            <a:pPr indent="0" marL="0">
              <a:buNone/>
            </a:pPr>
            <a:r>
              <a:rPr lang="en-US" sz="1200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L'enjeu : détecter les clients à risque AVANT qu'ils partent pour agir en amont.
</a:t>
            </a:r>
            <a:pPr indent="0" marL="0">
              <a:buNone/>
            </a:pPr>
            <a:r>
              <a:rPr lang="en-US" sz="1200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26,5% des clients ont résilié leur abonnement dans le dataset analysé.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QUESTIONS CLÉS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508760"/>
            <a:ext cx="3639312" cy="822960"/>
          </a:xfrm>
          <a:prstGeom prst="roundRect">
            <a:avLst>
              <a:gd name="adj" fmla="val 6667"/>
            </a:avLst>
          </a:prstGeom>
          <a:solidFill>
            <a:srgbClr val="0D1B2A">
              <a:alpha val="12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508760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087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COMPRENDRE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56048" y="18562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facteurs expliquent les départs 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496312"/>
            <a:ext cx="3639312" cy="822960"/>
          </a:xfrm>
          <a:prstGeom prst="roundRect">
            <a:avLst>
              <a:gd name="adj" fmla="val 6667"/>
            </a:avLst>
          </a:prstGeom>
          <a:solidFill>
            <a:srgbClr val="0A7B83">
              <a:alpha val="12000"/>
            </a:srgbClr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249631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496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ANTICIPER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56048" y="284378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prédire un départ avant qu'il survienne 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3483864"/>
            <a:ext cx="3639312" cy="822960"/>
          </a:xfrm>
          <a:prstGeom prst="roundRect">
            <a:avLst>
              <a:gd name="adj" fmla="val 6667"/>
            </a:avLst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483864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4838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FIDÉLISER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56048" y="383133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actions ciblées réduire le churn 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Exploration des Données (EDA)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1920240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7 043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analysés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9601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960120"/>
            <a:ext cx="1920240" cy="9144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6032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1920240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churn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9601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960120"/>
            <a:ext cx="192024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6656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(après nettoyage)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Variables du dataset 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4114800" cy="34747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788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👤 Profil client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genre, senior, partenaire, enfants, ancienneté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91256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912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📋 Contrat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type (mensuel/annuel/2 ans), facturation, paiement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93592"/>
            <a:ext cx="4114800" cy="34747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593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🌐 Services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téléphonie, internet, sécurité, streaming...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95928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9959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💵 Facturation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charges mensuelles, charges totales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98264"/>
            <a:ext cx="4114800" cy="34747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3982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🎯 Cible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Churn (Oui / Non) — variable à prédire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331720"/>
            <a:ext cx="3840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Déséquilibre des classes</a:t>
            </a:r>
            <a:endParaRPr lang="en-US" sz="13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5029200" y="2788920"/>
          <a:ext cx="34747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Méthodologique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960120"/>
            <a:ext cx="685800" cy="6858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1737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Chargement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&amp; EDA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Kaggle dataset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7 043 lignes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54480" y="1298448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96312" y="960120"/>
            <a:ext cx="685800" cy="685800"/>
          </a:xfrm>
          <a:prstGeom prst="ellipse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30552" y="1737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B83"/>
                </a:solidFill>
              </a:rPr>
              <a:t>Nettoyage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7B83"/>
                </a:solidFill>
              </a:rPr>
              <a:t>&amp; Préparation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84832" y="22402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Encodage, split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80/20 stratifié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73552" y="1298448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15384" y="960120"/>
            <a:ext cx="685800" cy="685800"/>
          </a:xfrm>
          <a:prstGeom prst="ellipse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15384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9624" y="1737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A89D"/>
                </a:solidFill>
              </a:rPr>
              <a:t>Modélisation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03904" y="22402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algorithmes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optimisés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92624" y="1298448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34456" y="96012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34456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68696" y="1737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Évaluation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22976" y="22402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Matrices, F1,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recall churn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11696" y="1298448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53528" y="960120"/>
            <a:ext cx="685800" cy="6858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3528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87768" y="1737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Recommandations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42048" y="22402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Actions métier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actionnables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Choix des 3 familles algorithmiques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474720"/>
            <a:ext cx="9144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5478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3931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Baseline &amp; explicabilité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mathématique (coefficients)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343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→ Pourquoi un client part ?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34747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91840" y="3474720"/>
            <a:ext cx="91440" cy="141732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35478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0" y="3931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Règles métier visuelles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et interprétables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74720" y="4343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→ Quels seuils déclenchent le churn ?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34747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3474720"/>
            <a:ext cx="91440" cy="1417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5478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Forêts &amp; Boosting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 + XGBoost)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09360" y="3931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Performance maximale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par apprentissage collectif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4343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→ Qui va partir demain ?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1 — Régression Logistique (Baseline)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Objectif : comprendre les poids de chaque variable — transparence totale pour le management</a:t>
            </a:r>
            <a:endParaRPr lang="en-US" sz="1200" dirty="0"/>
          </a:p>
        </p:txBody>
      </p:sp>
      <p:pic>
        <p:nvPicPr>
          <p:cNvPr id="5" name="Image 0" descr="/home/claude/regressionLogist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85953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⚙️  Paramètres optimaux : C=1, pénalité L1 (Lasso) — sélection automatique des variables pertinentes via GridSearchCV (5 folds)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 — Résultats &amp; Interprétation Métier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75%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14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7B83"/>
                </a:solidFill>
              </a:rPr>
              <a:t>83%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Recall Churn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8686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914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52%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Précision Churn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8686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14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75569"/>
                </a:solidFill>
              </a:rPr>
              <a:t>64%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F1 Churn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011680"/>
            <a:ext cx="85039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Interprétation métier des facteurs d'influence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✅ PROTECTEURS (réduisent le churn)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28803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tenure élevé : les clients anciens sont fidèles — priorité à la rétention dès le 1er mois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3118104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Contrat 2 ans : l'engagement contractuel réduit massivement le risque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335584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OnlineBackup sans internet : profil attaché aux services périphériques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⚠️ FACTEURS DE RISQUE (augmentent le churn)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9776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TotalCharges élevé (insatisfaction coût) + Fiber Optic (déception qualité/prix)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4215384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StreamingMovies_Yes + PaymentMethod_Electronic check : profil volatile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445312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Absence de sécurité en ligne (OnlineSecurity_No) : sentiment de non-valeur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2 — Arbre de Décision (Explicabilité Visuelle)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Objectif : cartographier visuellement le « parcours de résiliation » — règles directement exploitables par les équipes commerciales</a:t>
            </a:r>
            <a:endParaRPr lang="en-US" sz="1100" dirty="0"/>
          </a:p>
        </p:txBody>
      </p:sp>
      <p:pic>
        <p:nvPicPr>
          <p:cNvPr id="5" name="Image 0" descr="/home/claude/decisiont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859536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🔵 Cases bleues = profils à haut risque de résiliation   |   🟠 Cases oranges = segments fidèles   |   Plus la couleur est foncée, plus le signal est fort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 — Résultats &amp; Règles Métier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7B83"/>
                </a:solidFill>
              </a:rPr>
              <a:t>79%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14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51%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Recall Churn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8686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914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7B83"/>
                </a:solidFill>
              </a:rPr>
              <a:t>63%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Précision Churn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8686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14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57%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4630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F1 Churn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011680"/>
            <a:ext cx="40233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103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Top 5 Variables Décisives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65760" y="2514600"/>
          <a:ext cx="39776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572000" y="2011680"/>
            <a:ext cx="4206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709160" y="2103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Règles Métier Clés Extraites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63440" y="2578608"/>
            <a:ext cx="3977640" cy="658368"/>
          </a:xfrm>
          <a:prstGeom prst="rect">
            <a:avLst/>
          </a:prstGeom>
          <a:solidFill>
            <a:srgbClr val="E74C3C">
              <a:alpha val="1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578608"/>
            <a:ext cx="73152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8032" y="2606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Profil Très Haut Risque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28032" y="28712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Contrat mensuel + Fiber Optic + tenure &lt; 5,5 mois → ~70% de probabilité de churn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3355848"/>
            <a:ext cx="3977640" cy="658368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63440" y="3355848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28032" y="3383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Profil Risque Moyen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28032" y="364845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Contrat mensuel + Fiber Optic + tenure 5-14 mois → surveillance recommandée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0" y="4133088"/>
            <a:ext cx="3977640" cy="658368"/>
          </a:xfrm>
          <a:prstGeom prst="rect">
            <a:avLst/>
          </a:prstGeom>
          <a:solidFill>
            <a:srgbClr val="27AE60">
              <a:alpha val="1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63440" y="4133088"/>
            <a:ext cx="73152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28032" y="4160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Profil Stable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28032" y="442569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Contrat 2 ans (quelle que soit la configuration) → risque inférieur à 3%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3 — Random Forest (Robustesse &amp; Stabilité)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500 arbres en vote collectif — neutralise les biais et le sur-apprentissage de l'arbre unique</a:t>
            </a:r>
            <a:endParaRPr lang="en-US" sz="1100" dirty="0"/>
          </a:p>
        </p:txBody>
      </p:sp>
      <p:pic>
        <p:nvPicPr>
          <p:cNvPr id="5" name="Image 0" descr="/home/claude/randomFor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384048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9120" y="1051560"/>
            <a:ext cx="2057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89120" y="106984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</a:rPr>
              <a:t>80%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389120" y="15270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Accuracy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29400" y="1051560"/>
            <a:ext cx="2057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29400" y="106984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</a:rPr>
              <a:t>78%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629400" y="15270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Recall Churn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9120" y="2011680"/>
            <a:ext cx="2057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389120" y="20299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</a:rPr>
              <a:t>59%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389120" y="24871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Précision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29400" y="2011680"/>
            <a:ext cx="2057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29400" y="20299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</a:rPr>
              <a:t>67%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629400" y="24871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F1 Churn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89120" y="3063240"/>
            <a:ext cx="4480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26280" y="31272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Hyperparamètres optimaux (GridSearch)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0" y="34564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n_estimators = 500 arbres  ·  max_depth = 10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0" y="369417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max_features = sqrt  ·  min_samples_leaf = 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4114800"/>
            <a:ext cx="854964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411480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Top Features : tenure (17,8%)  ·  TotalCharges (14,1%)  ·  Contrat 2 ans (11,7%)  ·  MonthlyCharges (9,3%)  ·  Fiber Optic (7,4%)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4 — XGBoost (Performance Ultime)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Gradient boosting séquentiel — chaque arbre corrige les erreurs du précédent · Seuil optimal ajusté à 0,66</a:t>
            </a:r>
            <a:endParaRPr lang="en-US" sz="1100" dirty="0"/>
          </a:p>
        </p:txBody>
      </p:sp>
      <p:pic>
        <p:nvPicPr>
          <p:cNvPr id="5" name="Image 0" descr="/home/claude/xgbo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384048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9120" y="1051560"/>
            <a:ext cx="2057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89120" y="106984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82%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389120" y="15270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Accuracy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29400" y="1051560"/>
            <a:ext cx="2057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29400" y="106984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69%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629400" y="15270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Recall Churn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9120" y="2011680"/>
            <a:ext cx="2057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389120" y="20299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65%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389120" y="24871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Précision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29400" y="2011680"/>
            <a:ext cx="2057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29400" y="20299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67%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629400" y="24871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F1 Churn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89120" y="3063240"/>
            <a:ext cx="4480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26280" y="31272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Configuration fine-tuning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0" y="34564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1 000 estimateurs, learning_rate=0,01, max_depth=5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0" y="369417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Seuil décision 0,66 → 254 erreurs (meilleur bilan)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4114800"/>
            <a:ext cx="85496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411480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Meilleur modèle global — 254 erreurs vs 288 (RF) · Réduction de 12% des fausses alertes · Recommandé en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4 Modèles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Chaque modèle apporte une brique différente — de l'explicabilité à la performance maximale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280160"/>
                <a:gridCol w="1005840"/>
                <a:gridCol w="1371600"/>
                <a:gridCol w="18288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 Churn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 Churn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Erreurs totales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Usage recommandé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Régression Log.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75%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83%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0.64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373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Communication management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7B83"/>
                          </a:solidFill>
                        </a:rPr>
                        <a:t>Arbre de Décision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79%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51%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0.57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294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Extraction règles métier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80%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78%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0.67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288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Scoring robuste / batch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XGBoost 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</a:rPr>
                        <a:t>82%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</a:rPr>
                        <a:t>69%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</a:rPr>
                        <a:t>0.67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</a:rPr>
                        <a:t>254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</a:rPr>
                        <a:t>Déploiement en production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365760" y="3657600"/>
          <a:ext cx="41148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3657600"/>
          <a:ext cx="41148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Métier : Précision vs Rappel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2377440"/>
          </a:xfrm>
          <a:prstGeom prst="rect">
            <a:avLst/>
          </a:prstGeom>
          <a:solidFill>
            <a:srgbClr val="E74C3C">
              <a:alpha val="8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FAUX POSITIF (FP)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Client fidèle détecté comme à risque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Offre de rétention envoyée à tort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Coût inutile (promo, appel, geste commercial)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Impact limité, acceptable si fréquence maîtrisée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931920" cy="2377440"/>
          </a:xfrm>
          <a:prstGeom prst="rect">
            <a:avLst/>
          </a:prstGeom>
          <a:solidFill>
            <a:srgbClr val="0D1B2A">
              <a:alpha val="8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914400"/>
            <a:ext cx="39319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FAUX NÉGATIF (FN)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4173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Client qui résilie non détecté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Aucune action préventive déclenchée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Perte définitive du client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Coût élevé : CAC + manque à gagner futur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0520" y="1737360"/>
            <a:ext cx="822960" cy="822960"/>
          </a:xfrm>
          <a:prstGeom prst="ellipse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566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Recommandation selon l'objectif business 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977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XGBoost (seuil 0,66)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Maximiser le ROI : moins de fausses alertes, coût de rétention optimisé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977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Régression Logistique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Reporting &amp; présentation management : poids explicites, résultats justifiables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3977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B83"/>
                </a:solidFill>
              </a:rPr>
              <a:t>Random Forest (seuil 0,52)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Maximiser la détection : capturer le maximum de churners même au prix de FP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Profils Clients à Risque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Synthèse cross-modèles — signaux convergents identifiés par les 4 algorithmes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5176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B83"/>
                </a:solidFill>
              </a:rPr>
              <a:t>Contrat Mensuel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293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Sans engagement = liberté de partir à tout moment.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Risque 3× supérieur aux contrats annuels.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2404872"/>
            <a:ext cx="2468880" cy="256032"/>
          </a:xfrm>
          <a:prstGeom prst="rect">
            <a:avLst/>
          </a:prstGeom>
          <a:solidFill>
            <a:srgbClr val="0A7B83">
              <a:alpha val="25000"/>
            </a:srgbClr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04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ACTION : Offrir migration vers contrat annuel à J+45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1234440"/>
            <a:ext cx="265176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4612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B83"/>
                </a:solidFill>
              </a:rPr>
              <a:t>Fiber Optic sans services add.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9293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Internet haut débit sans Sécurité, Backup ni TV.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Rapport qualité/prix perçu comme mauvais.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2404872"/>
            <a:ext cx="2468880" cy="256032"/>
          </a:xfrm>
          <a:prstGeom prst="rect">
            <a:avLst/>
          </a:prstGeom>
          <a:solidFill>
            <a:srgbClr val="0A7B83">
              <a:alpha val="25000"/>
            </a:srgbClr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404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ACTION : Bundle de services à prix réduit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9320" y="1234440"/>
            <a:ext cx="265176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8076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B83"/>
                </a:solidFill>
              </a:rPr>
              <a:t>Ancienneté &lt; 6 mois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19293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Période critique d'onboarding. Le client évalue encore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 l'offre correspond à ses attentes.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2404872"/>
            <a:ext cx="2468880" cy="256032"/>
          </a:xfrm>
          <a:prstGeom prst="rect">
            <a:avLst/>
          </a:prstGeom>
          <a:solidFill>
            <a:srgbClr val="0A7B83">
              <a:alpha val="25000"/>
            </a:srgbClr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404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ACTION : Programme d'accueil proactif J+7, J+30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265176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💵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1148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B83"/>
                </a:solidFill>
              </a:rPr>
              <a:t>Charges élevées sans valeur perçue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6667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MonthlyCharges &gt; 80€ sans contrat long terme.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Sensibilité prix non compensée par la fidélité.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4142232"/>
            <a:ext cx="2468880" cy="256032"/>
          </a:xfrm>
          <a:prstGeom prst="rect">
            <a:avLst/>
          </a:prstGeom>
          <a:solidFill>
            <a:srgbClr val="0A7B83">
              <a:alpha val="25000"/>
            </a:srgbClr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422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ACTION : Revue tarifaire personnalisée + avantages loyalty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54680" y="2971800"/>
            <a:ext cx="265176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0175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24612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7B83"/>
                </a:solidFill>
              </a:rPr>
              <a:t>Paiement par chèque électronique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46120" y="36667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Indicateur de faible engagement / profil volatil.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Correlé avec absence d'automatisation des paiements.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4142232"/>
            <a:ext cx="2468880" cy="256032"/>
          </a:xfrm>
          <a:prstGeom prst="rect">
            <a:avLst/>
          </a:prstGeom>
          <a:solidFill>
            <a:srgbClr val="0A7B83">
              <a:alpha val="25000"/>
            </a:srgbClr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1422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ACTION : Migration vers prélèvement automatique + incentive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Actionnables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91440" cy="1188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43000"/>
            <a:ext cx="685800" cy="685800"/>
          </a:xfrm>
          <a:prstGeom prst="ellipse">
            <a:avLst/>
          </a:prstGeom>
          <a:solidFill>
            <a:srgbClr val="E74C3C">
              <a:alpha val="12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9875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Intervention Immédiate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3350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Cible : Contrat mensuel + Fiber Optic + tenure &lt; 6 mois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Appel commercial proactif dès le 45e jour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353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Offre migration contrat 1 an avec mois offert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6550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Activation du bundle sécurité + backup à prix réduit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40280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468880"/>
            <a:ext cx="685800" cy="6858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3134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Surveillance Active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6609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Cible : Charges élevées + absence de services complémentaires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Scoring mensuel automatisé (modèle XGBoost)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679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Email personnalisé avec récapitulatif valeur reçue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9809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Revue tarifaire avec conseiller dédié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566160"/>
            <a:ext cx="91440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794760"/>
            <a:ext cx="685800" cy="685800"/>
          </a:xfrm>
          <a:prstGeom prst="ellipse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3639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Fidélisation Préventive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39867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Cible : Clients en contrat mensuel avec ancienneté 6-18 mois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703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Programme de fidélité à partir du 6e mois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0050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Incentive migration prélèvement automatique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43068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NPS trimestriel + réponse rapide aux signaux faibles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💡  Priorisation recommandée : déployer le modèle XGBoost en scoring mensuel automatisé — ROI estimé à 15-25% de réduction du churn sur 6 mois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solidFill>
            <a:srgbClr val="E74C3C">
              <a:alpha val="9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Limites identifiées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Déséquilibre des classes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73,5% Fidèles / 26,5% Résiliés — technique SMOTE non appliquée. Pourrait améliorer le recall churn.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Données statiques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Snapshot unique sans temporalité. Un modèle de survie (Cox) capterait mieux l'évolution du risque dans le temps.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Explicabilité XGBoost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Le meilleur modèle est une boîte noire. SHAP values non calculées — recommandé pour la mise en production.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Généralisation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Dataset Kaggle ≠ données réelles. Dérive possible en production (data drift) à surveiller.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914400"/>
            <a:ext cx="3931920" cy="411480"/>
          </a:xfrm>
          <a:prstGeom prst="rect">
            <a:avLst/>
          </a:prstGeom>
          <a:solidFill>
            <a:srgbClr val="27AE60">
              <a:alpha val="9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Perspectives d'amélioration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4630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SMOTE / Class Weights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Rééquilibrer les classes pour améliorer la détection des churners minoritaires.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22860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SHAP Values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Expliquer individuellement chaque prédiction XGBoost pour personnaliser les actions.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31089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Scoring en production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383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Déployer le modèle en API REST avec scoring mensuel automatisé sur la base client.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39319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Modèle de survie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Prédire non seulement QUI va partir, mais QUAND — horizon de risque plus précis.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0A7B83">
              <a:alpha val="15000"/>
            </a:srgbClr>
          </a:solidFill>
          <a:ln w="12700">
            <a:solidFill>
              <a:srgbClr val="0A7B8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560320" cy="2560320"/>
          </a:xfrm>
          <a:prstGeom prst="ellipse">
            <a:avLst/>
          </a:prstGeom>
          <a:solidFill>
            <a:srgbClr val="12A89D">
              <a:alpha val="20000"/>
            </a:srgbClr>
          </a:solidFill>
          <a:ln w="12700">
            <a:solidFill>
              <a:srgbClr val="12A89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91440" cy="105156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B83"/>
                </a:solidFill>
              </a:rPr>
              <a:t>COMPRENDRE 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Les 4 modèles convergent : contrat, ancienneté et type d'internet sont les 3 leviers majeurs du churn télécom.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40280"/>
            <a:ext cx="9144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31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ANTICIPER 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XGBoost atteint 82% de précision globale avec seulement 254 erreurs — prêt pour un déploiement en production.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74720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566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FIDÉLISER 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9319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5 profils actionnables identifiés avec des interventions ciblées estimées à -15/25% de churn sur 6 mois.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12700">
            <a:solidFill>
              <a:srgbClr val="0A7B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Dataset : Telco Customer Churn — Kaggle  |  Modèles : Logistique · Arbre · Random Forest · XGBoost  |  Analyse réalisée avec Python &amp; scikit-learn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Réduction du Churn Télécom</dc:title>
  <dc:subject>PptxGenJS Presentation</dc:subject>
  <dc:creator>Analyse ML — Sujet 1</dc:creator>
  <cp:lastModifiedBy>Analyse ML — Sujet 1</cp:lastModifiedBy>
  <cp:revision>1</cp:revision>
  <dcterms:created xsi:type="dcterms:W3CDTF">2026-04-23T20:16:24Z</dcterms:created>
  <dcterms:modified xsi:type="dcterms:W3CDTF">2026-04-23T20:16:24Z</dcterms:modified>
</cp:coreProperties>
</file>