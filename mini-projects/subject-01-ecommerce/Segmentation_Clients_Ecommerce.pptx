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E148F40-B8EA-42FF-8326-253B2AD753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BB22E1-E122-4453-A887-FE89AECAB9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3C1549-0719-4C20-BB92-7DAFE61731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7226CF-AADD-4CC9-8654-CA053F84AE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A8FA50-B0AF-4F41-AC01-A40174944C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9FB7C0-3D4C-4507-8EF1-43F37B2B8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6770AA-5E34-490B-939C-E98B2E1A10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9C3A15-B897-4A38-8151-29D4DA1948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62CEC5-383D-4FAB-B05F-041ED6A5A0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21D892-E6B3-4CFA-BA8C-A988B7D27B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8636D4-E7E4-4324-B2B3-39B5920FE8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772400" y="-548640"/>
            <a:ext cx="2559960" cy="255996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229600" y="91440"/>
            <a:ext cx="1645560" cy="16455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65760" y="5943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300" strike="noStrike">
                <a:solidFill>
                  <a:srgbClr val="00b4d8"/>
                </a:solidFill>
                <a:effectLst/>
                <a:uFillTx/>
                <a:latin typeface="Calibri"/>
              </a:rPr>
              <a:t>MACHINE LEARNING · CLUSTERING · E-COMMERCE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65760" y="1051560"/>
            <a:ext cx="77720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Compréhension et Valorisation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des Clients E-commerce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65760" y="306324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 l'exploration des données brutes à l'élaboration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 stratégies marketing ciblées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65760" y="4005000"/>
            <a:ext cx="4114440" cy="27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65760" y="411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Youssef Fellah · Anam Aya · Bouzerda Zeineb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172200" y="3657600"/>
            <a:ext cx="822600" cy="914040"/>
          </a:xfrm>
          <a:prstGeom prst="roundRect">
            <a:avLst>
              <a:gd name="adj" fmla="val 5556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172200" y="37033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200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172200" y="41605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Clients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7132320" y="3657600"/>
            <a:ext cx="822600" cy="914040"/>
          </a:xfrm>
          <a:prstGeom prst="roundRect">
            <a:avLst>
              <a:gd name="adj" fmla="val 5556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7132320" y="37033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7132320" y="41605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Variables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8092440" y="3657600"/>
            <a:ext cx="822600" cy="914040"/>
          </a:xfrm>
          <a:prstGeom prst="roundRect">
            <a:avLst>
              <a:gd name="adj" fmla="val 5556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092440" y="37033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8092440" y="41605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Segments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INTRODUCTION &amp; PROBLÉMATIQUE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Contexte &amp; Objectifs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365760" y="1234440"/>
            <a:ext cx="2559960" cy="1919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365760" y="12801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📦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365760" y="17830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Données Brutes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365760" y="21945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200 clients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4 dimensions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E-commerce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2971800" y="2148840"/>
            <a:ext cx="228240" cy="45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3246120" y="1234440"/>
            <a:ext cx="2559960" cy="1919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3246120" y="12801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⚙️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3246120" y="17830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Modélisation ML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3246120" y="21945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K-Means K=6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CAH · DBSCAN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Standardisation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5852160" y="2148840"/>
            <a:ext cx="228240" cy="45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6126480" y="1234440"/>
            <a:ext cx="2559960" cy="1919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6126480" y="12801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6126480" y="17830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Stratégie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6126480" y="21945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6 Personas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Actions ciblées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ROI optimisé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7"/>
          <p:cNvSpPr/>
          <p:nvPr/>
        </p:nvSpPr>
        <p:spPr>
          <a:xfrm>
            <a:off x="365760" y="3291840"/>
            <a:ext cx="8412120" cy="1371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365760" y="3291840"/>
            <a:ext cx="54360" cy="1371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548640" y="336492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028090"/>
                </a:solidFill>
                <a:effectLst/>
                <a:uFillTx/>
                <a:latin typeface="Calibri"/>
              </a:rPr>
              <a:t>Problématique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548640" y="365760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Comment transformer des données transactionnelles et démographiques brutes en leviers de croissance actionnables ? Révéler les structures sous-jacentes du portefeuille client pour formuler des stratégies d'allocation budgétaire et de personnalisation précises.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MÉTHODOLOGIE &amp; DATA PREP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Pipeline de Prétraitement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365760" y="1280160"/>
            <a:ext cx="402300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365760" y="1280160"/>
            <a:ext cx="5436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502920" y="137160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28090"/>
                </a:solidFill>
                <a:effectLst/>
                <a:uFillTx/>
                <a:latin typeface="Calibri"/>
              </a:rPr>
              <a:t>✅ 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502920" y="16916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Nettoyage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502920" y="203904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Aucune valeur manquante · 0 doublon détecté · 200 entrées valides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4663440" y="1280160"/>
            <a:ext cx="402300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4663440" y="1280160"/>
            <a:ext cx="5436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800600" y="137160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28090"/>
                </a:solidFill>
                <a:effectLst/>
                <a:uFillTx/>
                <a:latin typeface="Calibri"/>
              </a:rPr>
              <a:t>🔢 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4800600" y="16916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Encodage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4800600" y="203904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Genre converti en binaire (Male: 1 · Female: 0) · CustomerID exclu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365760" y="2971800"/>
            <a:ext cx="402300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365760" y="2971800"/>
            <a:ext cx="5436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502920" y="306324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28090"/>
                </a:solidFill>
                <a:effectLst/>
                <a:uFillTx/>
                <a:latin typeface="Calibri"/>
              </a:rPr>
              <a:t>📐 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502920" y="33832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Standardisation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502920" y="373068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StandardScaler appliqué · Données centrées-réduites (μ=0, σ=1)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4663440" y="2971800"/>
            <a:ext cx="402300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4663440" y="2971800"/>
            <a:ext cx="5436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4800600" y="306324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28090"/>
                </a:solidFill>
                <a:effectLst/>
                <a:uFillTx/>
                <a:latin typeface="Calibri"/>
              </a:rPr>
              <a:t>💡 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4800600" y="33832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Justification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4800600" y="373068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Garantit l'équité des distances euclidiennes — cœur de K-Means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ANALYSE EXPLORATOIRE (EDA)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2514960" y="918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Exploration des Données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365760" y="1280160"/>
            <a:ext cx="2285640" cy="804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365760" y="13258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38.8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365760" y="17006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Âge moyen (ans)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365760" y="2212920"/>
            <a:ext cx="2285640" cy="804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365760" y="225864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60.6k$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365760" y="2633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Revenu moyen annuel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365760" y="3145680"/>
            <a:ext cx="2285640" cy="804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365760" y="319140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50.2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365760" y="35661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Score dépense moyen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365760" y="4078080"/>
            <a:ext cx="2285640" cy="804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365760" y="412380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56 / 44%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365760" y="4498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Femmes / Hommes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0" descr="dataAnalyse2.png"/>
          <p:cNvPicPr/>
          <p:nvPr/>
        </p:nvPicPr>
        <p:blipFill>
          <a:blip r:embed="rId1"/>
          <a:stretch/>
        </p:blipFill>
        <p:spPr>
          <a:xfrm>
            <a:off x="2834640" y="594360"/>
            <a:ext cx="6034680" cy="20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Image 1" descr="dataAnalyse3.png"/>
          <p:cNvPicPr/>
          <p:nvPr/>
        </p:nvPicPr>
        <p:blipFill>
          <a:blip r:embed="rId2"/>
          <a:stretch/>
        </p:blipFill>
        <p:spPr>
          <a:xfrm>
            <a:off x="2834640" y="2605680"/>
            <a:ext cx="6034680" cy="242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MODÉLISATION ALGORITHMIQUE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Choix et Validation de K=6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365760" y="1261800"/>
            <a:ext cx="5436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548640" y="13075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Méthode du Coude (WCSS)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548640" y="16275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Coude visible à K=6 — optimal entre variance et complexité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365760" y="2194560"/>
            <a:ext cx="5436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548640" y="22402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Score de Silhouette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548640" y="25603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Pic à K=6 (0.43) — séparation maximale entre clusters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365760" y="3127320"/>
            <a:ext cx="5436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48640" y="31730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Indice Calinski-Harabasz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548640" y="349308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Maximum local à K=6 — densité intra-cluster validée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365760" y="4060080"/>
            <a:ext cx="5436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548640" y="4105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CAH (Ward)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548640" y="44258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Dendrogramme confirme empiriquement 6 groupes distincts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choosing1.png"/>
          <p:cNvPicPr/>
          <p:nvPr/>
        </p:nvPicPr>
        <p:blipFill>
          <a:blip r:embed="rId1"/>
          <a:stretch/>
        </p:blipFill>
        <p:spPr>
          <a:xfrm>
            <a:off x="4572000" y="1188720"/>
            <a:ext cx="42973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5"/>
          <p:cNvSpPr/>
          <p:nvPr/>
        </p:nvSpPr>
        <p:spPr>
          <a:xfrm>
            <a:off x="4572000" y="306324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Méthode du Coude · Score de Silhouette · Indice CH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1" descr="cah.png"/>
          <p:cNvPicPr/>
          <p:nvPr/>
        </p:nvPicPr>
        <p:blipFill>
          <a:blip r:embed="rId2"/>
          <a:stretch/>
        </p:blipFill>
        <p:spPr>
          <a:xfrm>
            <a:off x="4572000" y="3291840"/>
            <a:ext cx="4297320" cy="164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6"/>
          <p:cNvSpPr/>
          <p:nvPr/>
        </p:nvSpPr>
        <p:spPr>
          <a:xfrm>
            <a:off x="4572000" y="495612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Dendrogramme CAH — confirmation de la coupure à K=6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LES 6 SEGMENTS CLIENTS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Tableau de Bord des Personas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365760" y="1261800"/>
            <a:ext cx="2605680" cy="1737000"/>
          </a:xfrm>
          <a:prstGeom prst="rect">
            <a:avLst/>
          </a:prstGeom>
          <a:solidFill>
            <a:srgbClr val="1e6ba8"/>
          </a:solidFill>
          <a:ln w="12700">
            <a:solidFill>
              <a:srgbClr val="1e6ba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57200" y="13348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👴 C0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1874520" y="13348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45 clients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457200" y="16092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Seniors Standards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57200" y="201168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Âge: 56 ans  ·  Revenu: 54k$  ·  Score: 49/100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3200400" y="1261800"/>
            <a:ext cx="2605680" cy="1737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3291840" y="13348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🧑 C1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4709160" y="13348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39 clients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3291840" y="16092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Jeunes Standards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3291840" y="201168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Âge: 27 ans  ·  Revenu: 57k$  ·  Score: 48/100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6035040" y="1261800"/>
            <a:ext cx="2605680" cy="1737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6126480" y="13348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🎯 C2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7543800" y="13348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33 clients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6126480" y="16092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Cible à Potentiel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6126480" y="201168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Âge: 42 ans  ·  Revenu: 89k$  ·  Score: 17/100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365760" y="3182040"/>
            <a:ext cx="2605680" cy="1737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457200" y="325512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⭐ C3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1874520" y="325512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39 clients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457200" y="352944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Clients VIP / 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457200" y="393192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Âge: 33 ans  ·  Revenu: 87k$  ·  Score: 82/100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3200400" y="3182040"/>
            <a:ext cx="2605680" cy="1737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3291840" y="325512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🛍️ C4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4709160" y="325512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23 clients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3291840" y="352944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Jeunes Impulsifs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3291840" y="393192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Âge: 25 ans  ·  Revenu: 25k$  ·  Score: 78/100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8"/>
          <p:cNvSpPr/>
          <p:nvPr/>
        </p:nvSpPr>
        <p:spPr>
          <a:xfrm>
            <a:off x="6035040" y="3182040"/>
            <a:ext cx="2605680" cy="17370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9"/>
          <p:cNvSpPr/>
          <p:nvPr/>
        </p:nvSpPr>
        <p:spPr>
          <a:xfrm>
            <a:off x="6126480" y="325512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💼 C5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7543800" y="325512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21 clients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6126480" y="352944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Seniors Économes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6126480" y="393192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fe3f0"/>
                </a:solidFill>
                <a:effectLst/>
                <a:uFillTx/>
                <a:latin typeface="Calibri"/>
              </a:rPr>
              <a:t>Âge: 46 ans  ·  Revenu: 26k$  ·  Score: 19/100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VISUALISATION DES CLUSTERS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Segmentation Client K-Means (K=6)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2057400" y="48006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Axes: Revenu (k$) · Score Dépense (1-100) · Âge du client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"/>
          <p:cNvPicPr/>
          <p:nvPr/>
        </p:nvPicPr>
        <p:blipFill>
          <a:blip r:embed="rId1"/>
          <a:stretch/>
        </p:blipFill>
        <p:spPr>
          <a:xfrm>
            <a:off x="0" y="1371600"/>
            <a:ext cx="9143640" cy="34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AUDIT DE ROBUSTESSE — DBSCAN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Validation par Détection d'Anomalies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731520" y="1234440"/>
            <a:ext cx="3200040" cy="320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1371600" y="1874520"/>
            <a:ext cx="1919880" cy="19198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1051560" y="1554480"/>
            <a:ext cx="731160" cy="7311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731520" y="233172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8090"/>
                </a:solidFill>
                <a:effectLst/>
                <a:uFillTx/>
                <a:latin typeface="Calibri"/>
              </a:rPr>
              <a:t>86%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731520" y="29260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données structurées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663440" y="1234440"/>
            <a:ext cx="411444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4663440" y="1371600"/>
            <a:ext cx="54360" cy="804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4800600" y="1463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200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4800600" y="18104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Clients analysés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4663440" y="2350080"/>
            <a:ext cx="411444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4663440" y="2350080"/>
            <a:ext cx="54360" cy="804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4800600" y="24415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43f5e"/>
                </a:solidFill>
                <a:effectLst/>
                <a:uFillTx/>
                <a:latin typeface="Calibri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4800600" y="27889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Clients atypiques (bruit)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4663440" y="3328560"/>
            <a:ext cx="411444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4663440" y="3328560"/>
            <a:ext cx="54360" cy="804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4800600" y="342000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92400e"/>
                </a:solidFill>
                <a:effectLst/>
                <a:uFillTx/>
                <a:latin typeface="Calibri"/>
              </a:rPr>
              <a:t>14%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4800600" y="37674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Taux d'anomalies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4800600" y="46087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K-Means validé en production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4"/>
          <p:cNvSpPr/>
          <p:nvPr/>
        </p:nvSpPr>
        <p:spPr>
          <a:xfrm>
            <a:off x="365760" y="4526280"/>
            <a:ext cx="8412120" cy="502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502920" y="45446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💡  Ce faible taux (14%) confirme que 86% de la base suit des comportements prédictibles — K-Means est validé pour la production.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STRATÉGIE MARKETING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Décisions Marketing &amp; Impact Business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365760" y="1234440"/>
            <a:ext cx="146268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57200" y="12344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ffffff"/>
                </a:solidFill>
                <a:effectLst/>
                <a:uFillTx/>
                <a:latin typeface="Calibri"/>
              </a:rPr>
              <a:t>Segment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1920240" y="1234440"/>
            <a:ext cx="310860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2011680" y="1234440"/>
            <a:ext cx="3017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ffffff"/>
                </a:solidFill>
                <a:effectLst/>
                <a:uFillTx/>
                <a:latin typeface="Calibri"/>
              </a:rPr>
              <a:t>Action Marketing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5120640" y="1234440"/>
            <a:ext cx="210276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5212080" y="12344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ffffff"/>
                </a:solidFill>
                <a:effectLst/>
                <a:uFillTx/>
                <a:latin typeface="Calibri"/>
              </a:rPr>
              <a:t>Canal Privilégié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7315200" y="1234440"/>
            <a:ext cx="146268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7406640" y="12344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99" strike="noStrike">
                <a:solidFill>
                  <a:srgbClr val="ffffff"/>
                </a:solidFill>
                <a:effectLst/>
                <a:uFillTx/>
                <a:latin typeface="Calibri"/>
              </a:rPr>
              <a:t>KPI de Suivi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365760" y="1627560"/>
            <a:ext cx="84121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365760" y="1627560"/>
            <a:ext cx="54360" cy="7495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502920" y="171900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9f1239"/>
                </a:solidFill>
                <a:effectLst/>
                <a:uFillTx/>
                <a:latin typeface="Calibri"/>
              </a:rPr>
              <a:t>C3 – VIP / 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1965960" y="170064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Programme fidélité exclusif · Accès anticipé nouveautés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5166360" y="171900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Email VIP · App Premium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7360920" y="182880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Taux de rétention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365760" y="2450520"/>
            <a:ext cx="8412120" cy="749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8"/>
          <p:cNvSpPr/>
          <p:nvPr/>
        </p:nvSpPr>
        <p:spPr>
          <a:xfrm>
            <a:off x="365760" y="2450520"/>
            <a:ext cx="54360" cy="749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02920" y="254196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b45309"/>
                </a:solidFill>
                <a:effectLst/>
                <a:uFillTx/>
                <a:latin typeface="Calibri"/>
              </a:rPr>
              <a:t>C2 – Potentiel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1965960" y="25236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Réengagement ciblé · Enquêtes satisfaction · Offres de rupture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1"/>
          <p:cNvSpPr/>
          <p:nvPr/>
        </p:nvSpPr>
        <p:spPr>
          <a:xfrm>
            <a:off x="5166360" y="254196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Retargeting Ads · SMS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7360920" y="2651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Taux de conversion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3"/>
          <p:cNvSpPr/>
          <p:nvPr/>
        </p:nvSpPr>
        <p:spPr>
          <a:xfrm>
            <a:off x="365760" y="3273480"/>
            <a:ext cx="84121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365760" y="3273480"/>
            <a:ext cx="54360" cy="749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502920" y="336492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C4 – Impulsifs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1965960" y="334656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Flash sales · Recommandations personnalisées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5166360" y="336492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Push · Social Ads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7360920" y="347472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Panier moyen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9"/>
          <p:cNvSpPr/>
          <p:nvPr/>
        </p:nvSpPr>
        <p:spPr>
          <a:xfrm>
            <a:off x="365760" y="4096440"/>
            <a:ext cx="8412120" cy="749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0"/>
          <p:cNvSpPr/>
          <p:nvPr/>
        </p:nvSpPr>
        <p:spPr>
          <a:xfrm>
            <a:off x="365760" y="4096440"/>
            <a:ext cx="54360" cy="749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1"/>
          <p:cNvSpPr/>
          <p:nvPr/>
        </p:nvSpPr>
        <p:spPr>
          <a:xfrm>
            <a:off x="502920" y="418788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C1 – Jeunes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2"/>
          <p:cNvSpPr/>
          <p:nvPr/>
        </p:nvSpPr>
        <p:spPr>
          <a:xfrm>
            <a:off x="1965960" y="4169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Éducation marque · Parrainage · Abonnements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3"/>
          <p:cNvSpPr/>
          <p:nvPr/>
        </p:nvSpPr>
        <p:spPr>
          <a:xfrm>
            <a:off x="5166360" y="418788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Réseaux sociaux · Influenceurs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4"/>
          <p:cNvSpPr/>
          <p:nvPr/>
        </p:nvSpPr>
        <p:spPr>
          <a:xfrm>
            <a:off x="7360920" y="429768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LTV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-914400" y="-914400"/>
            <a:ext cx="4571640" cy="457164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"/>
          <p:cNvSpPr/>
          <p:nvPr/>
        </p:nvSpPr>
        <p:spPr>
          <a:xfrm>
            <a:off x="6400800" y="2286000"/>
            <a:ext cx="3657240" cy="365724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365760" y="228600"/>
            <a:ext cx="2011320" cy="273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36576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 &amp; PERSPECTIVES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365760" y="5943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Synthèse &amp; Prochaines Étapes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"/>
          <p:cNvSpPr/>
          <p:nvPr/>
        </p:nvSpPr>
        <p:spPr>
          <a:xfrm>
            <a:off x="457200" y="1325880"/>
            <a:ext cx="8046360" cy="1051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548640" y="1417320"/>
            <a:ext cx="63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1325880" y="141732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Résultat clé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1325880" y="178308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6 segments distincts révélés — 86% de la base est modélisable par centroïdes.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457200" y="2560320"/>
            <a:ext cx="8046360" cy="1051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1325880" y="265176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Limites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1325880" y="301752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Échantillon de 200 clients — un ré-entraînement régulier sera nécessaire à l'échelle.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457200" y="3794760"/>
            <a:ext cx="8046360" cy="1051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1325880" y="388620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Prochaine étape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1325880" y="425196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Intégration d'un Random Forest supervisé pour prédire le cluster d'un nouveau client dès l'inscription.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LibreOffice/25.8.6.2$Linux_X86_64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2026-04-25T19:52:58Z</dcterms:created>
  <dc:creator>Youssef Fellah, Anam Aya, Bouzerda Zeineb</dc:creator>
  <dc:description/>
  <dc:language>en-US</dc:language>
  <cp:lastModifiedBy/>
  <dcterms:modified xsi:type="dcterms:W3CDTF">2026-04-25T21:00:40Z</dcterms:modified>
  <cp:revision>2</cp:revision>
  <dc:subject>PptxGenJS Presentation</dc:subject>
  <dc:title>Segmentation Client E-commerce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